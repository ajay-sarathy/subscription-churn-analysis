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CAD05-267A-4243-9A93-4D282ABE97CE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E25319-DF0A-4E42-A82F-16990B6E2B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198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25319-DF0A-4E42-A82F-16990B6E2BD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191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AC32D-5C64-0127-F03F-3250E322A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516A19-1BCD-8043-8DCB-746107F74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03887B-ED00-400D-016C-ED58AD418F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74F7B-2B83-F240-397B-2535EA318E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25319-DF0A-4E42-A82F-16990B6E2BD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754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626F2-4B91-2985-425A-B098563EE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6044D3-E7F6-D330-0DC2-CAB48DDC36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7A744-1D4A-844F-3F02-C815C0A93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CB262-D028-49A4-A860-37B692EFC84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466E2-2438-4E96-2535-EBC20438A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E7BF2-9B4C-0733-7DC8-8EE4EF094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EA4AD-0E53-4D79-AF29-C7BDAC264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078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99E76-200E-DCB6-5880-787EFAECD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99395-A190-23D4-FBA6-E10B3675C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9EEC7-E967-5308-8B58-7AF6983FC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CB262-D028-49A4-A860-37B692EFC84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C81AD-D4E0-3BD8-987E-EB0EBD311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DEA6A-BEF2-D676-61A7-62D80C792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EA4AD-0E53-4D79-AF29-C7BDAC264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039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448CF-13BB-BA0D-BA33-1F9C1E53D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E66993-19C0-6058-A760-CA838ED74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A0706-111D-F8E2-A2FD-0097344FA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CB262-D028-49A4-A860-37B692EFC84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D9188-8B6A-D7A8-3AD6-94C77ACB6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3F9CF-EDBA-6349-135A-61EA852E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EA4AD-0E53-4D79-AF29-C7BDAC264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084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0AE47-22A2-79A1-B9F8-6B47001BD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1C37C-D814-BD18-5FA9-62C3F6BFCA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1E193F-DC51-8473-E033-E57917935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ED1F5-A48E-69D1-E742-D78660AD1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CB262-D028-49A4-A860-37B692EFC84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207E2-5E29-F801-78FE-F240B064D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0342F-24D6-63DD-17D1-6B74896E7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EA4AD-0E53-4D79-AF29-C7BDAC264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78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B5018-1AF3-2E85-5442-9F90BE874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A14CF-3157-9985-1AD8-5E586729F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C1179A-4537-1B30-D7EE-D327099EA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B9398E-53C8-AE84-FF5B-718492D6BB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7CC290-46BD-53B6-D190-C869169DE6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01F676-E6EC-3B06-E8EA-BB44AD824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CB262-D028-49A4-A860-37B692EFC84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2E68B9-52BE-D18F-F630-488266D9D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118D11-3085-9CF8-FD94-A5953E352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EA4AD-0E53-4D79-AF29-C7BDAC264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066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67F51-E3B4-D82E-2082-C3567D06F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F9B61F-CE70-4C70-9B3B-DFAEAFEB6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CB262-D028-49A4-A860-37B692EFC84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7D92BF-4866-F626-F7C7-61BFD85EF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5260E-43CA-93B2-E937-EA03C51E8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EA4AD-0E53-4D79-AF29-C7BDAC264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815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D82673-FC81-390A-7901-D82FA2896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CB262-D028-49A4-A860-37B692EFC84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DFB52F-686E-309C-3938-CBEBD45B1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27C1B-8133-19AC-6761-AC6ADB0D1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EA4AD-0E53-4D79-AF29-C7BDAC264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635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56416-80B1-FF1F-D2BD-E85433A89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FE3B7-6D9A-F4C9-1612-F6C6F0B6D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D83B3D-F068-0293-33B2-4E3ABC8A0B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93F1DB-CF55-12A6-BEA6-258CD8E39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CB262-D028-49A4-A860-37B692EFC84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7DB4-4727-CD9D-452A-CAD16B543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1CE042-D971-8452-EFA2-F84BA39D2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EA4AD-0E53-4D79-AF29-C7BDAC264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139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D4130-6FCC-0EF9-AAAC-5886972B6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E39366-8BC9-2621-226D-2B9D099708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3D89F2-6A0B-52C0-D139-9FC04BF79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ED151-B709-7614-1597-403B4B1AB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CB262-D028-49A4-A860-37B692EFC84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9D05CC-DFD8-3180-77CC-A8FD35755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9EC2C7-4D1D-0598-9789-32E1EC70F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EA4AD-0E53-4D79-AF29-C7BDAC264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80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1714E-A670-9E9A-B3D3-36AA366FB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71C809-BE74-F580-CD4E-591769C72F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E6A05-48EB-F1FF-F841-6F925FF13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CB262-D028-49A4-A860-37B692EFC84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08795-6B2B-8B97-9B58-E9E1914C8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57F48-AA4F-5208-4B9D-B159FC8ED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EA4AD-0E53-4D79-AF29-C7BDAC264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639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92AA11-FAEC-36D8-9C57-67F3679F8F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950D1A-EE1D-0643-3132-2162FFC3E5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3655B-DE36-B252-825D-DA3113C97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CB262-D028-49A4-A860-37B692EFC84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F27B1-1648-8131-E34B-3239FE479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59308-75A7-27F2-6935-2E089C921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EA4AD-0E53-4D79-AF29-C7BDAC264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636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0DB037-A5C4-609F-477F-8E2CA7A1D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064333-4431-FEDF-2346-A256D4675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6430B-423A-6EC6-9E56-BA37D43B55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CB262-D028-49A4-A860-37B692EFC84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F174D-29FB-4E5F-D480-84D024745F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11F28-8177-7E68-7D9E-9B5231AD0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EA4AD-0E53-4D79-AF29-C7BDAC264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450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kist.com/free-photo-skyqg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kist.com/free-photo-skyqg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kist.com/free-photo-skyqg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pikist.com/free-photo-skyqg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ikist.com/free-photo-skyqg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kist.com/free-photo-skyqg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kist.com/free-photo-skyqg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kist.com/free-photo-skyqg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5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16000" b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D955F-79B1-325F-16D9-6D66A8C25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1013"/>
            <a:ext cx="12192000" cy="929290"/>
          </a:xfrm>
        </p:spPr>
        <p:txBody>
          <a:bodyPr>
            <a:normAutofit fontScale="90000"/>
          </a:bodyPr>
          <a:lstStyle/>
          <a:p>
            <a:r>
              <a:rPr lang="en-GB" sz="4400" b="1" dirty="0"/>
              <a:t>Subscription Churn Early-Warning &amp; Retention Strategy</a:t>
            </a:r>
            <a:br>
              <a:rPr lang="en-GB" sz="4400" b="1" dirty="0"/>
            </a:br>
            <a:r>
              <a:rPr lang="en-GB" sz="4400" b="1" dirty="0"/>
              <a:t>Immensity OTT Platform</a:t>
            </a:r>
            <a:endParaRPr lang="en-IN" sz="4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874F46-E516-32E5-1DB7-14703167F3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1830" y="1567543"/>
            <a:ext cx="11900170" cy="3974841"/>
          </a:xfrm>
        </p:spPr>
        <p:txBody>
          <a:bodyPr>
            <a:normAutofit/>
          </a:bodyPr>
          <a:lstStyle/>
          <a:p>
            <a:pPr algn="l"/>
            <a:r>
              <a:rPr lang="en-GB" b="1" u="sng" dirty="0"/>
              <a:t>Case study based on a simulated OTT subscription platform</a:t>
            </a:r>
          </a:p>
          <a:p>
            <a:pPr algn="l"/>
            <a:endParaRPr lang="en-GB" b="1" u="sng" dirty="0"/>
          </a:p>
          <a:p>
            <a:pPr algn="l"/>
            <a:r>
              <a:rPr lang="en-GB" b="1" u="sng" dirty="0"/>
              <a:t>Objective:</a:t>
            </a:r>
          </a:p>
          <a:p>
            <a:pPr marL="342900" indent="-342900" algn="l">
              <a:buFont typeface="Fira Code" panose="020B0809050000020004" pitchFamily="49" charset="0"/>
              <a:buChar char="֍"/>
            </a:pPr>
            <a:r>
              <a:rPr lang="en-GB" sz="1800" dirty="0"/>
              <a:t>Predict Churn 7-14 days early and recommend targeted retention strategies.</a:t>
            </a:r>
          </a:p>
          <a:p>
            <a:pPr algn="l"/>
            <a:endParaRPr lang="en-GB" sz="1800" dirty="0"/>
          </a:p>
          <a:p>
            <a:pPr algn="l"/>
            <a:endParaRPr lang="en-GB" sz="1800" dirty="0"/>
          </a:p>
          <a:p>
            <a:pPr marL="342900" indent="-342900" algn="l">
              <a:buFont typeface="Fira Code" panose="020B0809050000020004" pitchFamily="49" charset="0"/>
              <a:buChar char="֍"/>
            </a:pPr>
            <a:r>
              <a:rPr lang="en-GB" sz="1800" dirty="0"/>
              <a:t>Subscription platforms rely on consistent user retention for revenue stability.</a:t>
            </a:r>
          </a:p>
          <a:p>
            <a:pPr marL="342900" indent="-342900" algn="l">
              <a:buFont typeface="Fira Code" panose="020B0809050000020004" pitchFamily="49" charset="0"/>
              <a:buChar char="֍"/>
            </a:pPr>
            <a:r>
              <a:rPr lang="en-GB" sz="1800" dirty="0"/>
              <a:t>Rising churn negatively impacts recurring subscription revenue and long-term customer value.</a:t>
            </a:r>
          </a:p>
          <a:p>
            <a:pPr marL="342900" indent="-342900" algn="l">
              <a:buFont typeface="Fira Code" panose="020B0809050000020004" pitchFamily="49" charset="0"/>
              <a:buChar char="֍"/>
            </a:pPr>
            <a:r>
              <a:rPr lang="en-GB" sz="1800" dirty="0"/>
              <a:t>This project analyses churn patterns and develops a predictive early-warning system.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642970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5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16000" b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0961D-BF2E-B2D0-7B93-2F485ECFB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84050"/>
          </a:xfrm>
        </p:spPr>
        <p:txBody>
          <a:bodyPr/>
          <a:lstStyle/>
          <a:p>
            <a:pPr algn="ctr"/>
            <a:r>
              <a:rPr lang="en-IN" b="1" dirty="0"/>
              <a:t>Data Engineering &amp; ETL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FF26F-8258-31C5-213F-19F1D8BB9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84051"/>
            <a:ext cx="12192000" cy="55739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b="1" dirty="0"/>
              <a:t>Data Sources Used:</a:t>
            </a:r>
          </a:p>
          <a:p>
            <a:pPr>
              <a:buFont typeface="Fira Code" panose="020B0809050000020004" pitchFamily="49" charset="0"/>
              <a:buChar char="֍"/>
            </a:pPr>
            <a:r>
              <a:rPr lang="en-GB" sz="1800" dirty="0"/>
              <a:t>Users dataset</a:t>
            </a:r>
          </a:p>
          <a:p>
            <a:pPr>
              <a:buFont typeface="Fira Code" panose="020B0809050000020004" pitchFamily="49" charset="0"/>
              <a:buChar char="֍"/>
            </a:pPr>
            <a:r>
              <a:rPr lang="en-GB" sz="1800" dirty="0"/>
              <a:t>Subscription dataset</a:t>
            </a:r>
          </a:p>
          <a:p>
            <a:pPr>
              <a:buFont typeface="Fira Code" panose="020B0809050000020004" pitchFamily="49" charset="0"/>
              <a:buChar char="֍"/>
            </a:pPr>
            <a:r>
              <a:rPr lang="en-GB" sz="1800" dirty="0"/>
              <a:t>Usage activity logs</a:t>
            </a:r>
          </a:p>
          <a:p>
            <a:pPr>
              <a:buFont typeface="Fira Code" panose="020B0809050000020004" pitchFamily="49" charset="0"/>
              <a:buChar char="֍"/>
            </a:pPr>
            <a:r>
              <a:rPr lang="en-GB" sz="1800" dirty="0"/>
              <a:t>Payment Transactions</a:t>
            </a:r>
          </a:p>
          <a:p>
            <a:pPr>
              <a:buFont typeface="Fira Code" panose="020B0809050000020004" pitchFamily="49" charset="0"/>
              <a:buChar char="֍"/>
            </a:pPr>
            <a:r>
              <a:rPr lang="en-GB" sz="1800" dirty="0"/>
              <a:t>Campaign Touchpoints</a:t>
            </a:r>
          </a:p>
          <a:p>
            <a:pPr marL="0" indent="0">
              <a:buNone/>
            </a:pPr>
            <a:r>
              <a:rPr lang="en-GB" sz="1800" b="1" dirty="0"/>
              <a:t>Process:</a:t>
            </a:r>
          </a:p>
          <a:p>
            <a:pPr>
              <a:buFont typeface="Fira Code" panose="020B0809050000020004" pitchFamily="49" charset="0"/>
              <a:buChar char="֍"/>
            </a:pPr>
            <a:r>
              <a:rPr lang="en-GB" sz="1800" dirty="0"/>
              <a:t>Built a </a:t>
            </a:r>
            <a:r>
              <a:rPr lang="en-GB" sz="1800" b="1" dirty="0"/>
              <a:t>Python ETL pipeline </a:t>
            </a:r>
            <a:r>
              <a:rPr lang="en-GB" sz="1800" dirty="0"/>
              <a:t>to clean and standardize raw data.</a:t>
            </a:r>
          </a:p>
          <a:p>
            <a:pPr>
              <a:buFont typeface="Fira Code" panose="020B0809050000020004" pitchFamily="49" charset="0"/>
              <a:buChar char="֍"/>
            </a:pPr>
            <a:r>
              <a:rPr lang="en-GB" sz="1800" dirty="0"/>
              <a:t>Created curated analysis datasets:</a:t>
            </a:r>
            <a:endParaRPr lang="en-IN" sz="1800" dirty="0"/>
          </a:p>
          <a:p>
            <a:pPr marL="0" indent="0">
              <a:buNone/>
            </a:pPr>
            <a:r>
              <a:rPr lang="en-IN" sz="1800" dirty="0"/>
              <a:t>	dim_users_enriched</a:t>
            </a:r>
          </a:p>
          <a:p>
            <a:pPr marL="0" indent="0">
              <a:buNone/>
            </a:pPr>
            <a:r>
              <a:rPr lang="en-IN" sz="1800" dirty="0"/>
              <a:t>	</a:t>
            </a:r>
            <a:r>
              <a:rPr lang="en-IN" sz="1800" dirty="0" err="1"/>
              <a:t>fact_user_weekly</a:t>
            </a:r>
            <a:endParaRPr lang="en-IN" sz="1800" dirty="0"/>
          </a:p>
          <a:p>
            <a:pPr marL="0" indent="0">
              <a:buNone/>
            </a:pPr>
            <a:r>
              <a:rPr lang="en-IN" sz="1800" dirty="0"/>
              <a:t>	</a:t>
            </a:r>
            <a:r>
              <a:rPr lang="en-IN" sz="1800" dirty="0" err="1"/>
              <a:t>model_churn_dataset</a:t>
            </a:r>
            <a:endParaRPr lang="en-IN" sz="1800" dirty="0"/>
          </a:p>
          <a:p>
            <a:pPr marL="0" indent="0">
              <a:buNone/>
            </a:pPr>
            <a:r>
              <a:rPr lang="en-GB" sz="1800" b="1" dirty="0"/>
              <a:t>Outcome:</a:t>
            </a:r>
          </a:p>
          <a:p>
            <a:pPr>
              <a:buFont typeface="Fira Code" panose="020B0809050000020004" pitchFamily="49" charset="0"/>
              <a:buChar char="֍"/>
            </a:pPr>
            <a:r>
              <a:rPr lang="en-GB" sz="1800" dirty="0"/>
              <a:t>Prepared structured datasets for analytics and machine learning modelling. </a:t>
            </a:r>
          </a:p>
        </p:txBody>
      </p:sp>
    </p:spTree>
    <p:extLst>
      <p:ext uri="{BB962C8B-B14F-4D97-AF65-F5344CB8AC3E}">
        <p14:creationId xmlns:p14="http://schemas.microsoft.com/office/powerpoint/2010/main" val="3870602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5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16000" b="-1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3EDC6F-3AC3-67C9-B92A-86B0100FC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0CFFB-25A1-8D42-2FC8-BF8D7F6C6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84050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/>
              <a:t>Retention drops significantly within the first few months of subscription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0DDF4-904D-171C-4837-00F85ED66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4594" y="4863427"/>
            <a:ext cx="9620655" cy="199457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GB" sz="1800" dirty="0"/>
          </a:p>
          <a:p>
            <a:pPr>
              <a:buFont typeface="Fira Code" panose="020B0809050000020004" pitchFamily="49" charset="0"/>
              <a:buChar char="֍"/>
            </a:pPr>
            <a:r>
              <a:rPr lang="en-GB" sz="1800" dirty="0"/>
              <a:t>Cohort analysis tracks retention behaviour across signup cohorts.</a:t>
            </a:r>
          </a:p>
          <a:p>
            <a:pPr>
              <a:buFont typeface="Fira Code" panose="020B0809050000020004" pitchFamily="49" charset="0"/>
              <a:buChar char="֍"/>
            </a:pPr>
            <a:r>
              <a:rPr lang="en-GB" sz="1800" dirty="0"/>
              <a:t>Retention declines gradually over time across cohorts.</a:t>
            </a:r>
          </a:p>
          <a:p>
            <a:pPr marL="0" indent="0">
              <a:buNone/>
            </a:pPr>
            <a:r>
              <a:rPr lang="en-GB" sz="1800" b="1" dirty="0"/>
              <a:t>Key Insight</a:t>
            </a:r>
          </a:p>
          <a:p>
            <a:pPr>
              <a:buFont typeface="Fira Code" panose="020B0809050000020004" pitchFamily="49" charset="0"/>
              <a:buChar char="֍"/>
            </a:pPr>
            <a:r>
              <a:rPr lang="en-GB" sz="1800" b="1" i="1" dirty="0"/>
              <a:t>Largest retention drop occurs within the first few months of subscription. </a:t>
            </a:r>
          </a:p>
          <a:p>
            <a:pPr>
              <a:buFont typeface="Fira Code" panose="020B0809050000020004" pitchFamily="49" charset="0"/>
              <a:buChar char="֍"/>
            </a:pPr>
            <a:r>
              <a:rPr lang="en-GB" sz="1800" b="1" i="1" dirty="0"/>
              <a:t>Early engagement is critical to long-term retention.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D4506A-C2EB-3A94-9CD5-A2381E574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595" y="1173799"/>
            <a:ext cx="9620655" cy="368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570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5000"/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16000" b="-1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1D23AE-4C88-5390-7639-081B7D666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10D93-B9C7-8450-66D9-3120B652B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84050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/>
              <a:t>Declining user engagement is the strongest early warning signal of churn</a:t>
            </a:r>
            <a:endParaRPr lang="en-IN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29968EF-430A-AE45-982B-0FAEDE538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08187"/>
            <a:ext cx="12192000" cy="2149812"/>
          </a:xfrm>
        </p:spPr>
        <p:txBody>
          <a:bodyPr>
            <a:normAutofit/>
          </a:bodyPr>
          <a:lstStyle/>
          <a:p>
            <a:pPr>
              <a:buFont typeface="Fira Code" panose="020B0809050000020004" pitchFamily="49" charset="0"/>
              <a:buChar char="֍"/>
            </a:pPr>
            <a:r>
              <a:rPr lang="en-GB" sz="2000" dirty="0"/>
              <a:t>Users who churn exhibit significantly lower engagement before cancellation.</a:t>
            </a:r>
          </a:p>
          <a:p>
            <a:pPr>
              <a:buFont typeface="Fira Code" panose="020B0809050000020004" pitchFamily="49" charset="0"/>
              <a:buChar char="֍"/>
            </a:pPr>
            <a:r>
              <a:rPr lang="en-GB" sz="2000" dirty="0"/>
              <a:t>Average engagement among churned users drops dramatically.</a:t>
            </a:r>
            <a:endParaRPr lang="en-GB" sz="2000" b="1" dirty="0"/>
          </a:p>
          <a:p>
            <a:pPr marL="0" indent="0">
              <a:buNone/>
            </a:pPr>
            <a:r>
              <a:rPr lang="en-GB" sz="2400" b="1" dirty="0"/>
              <a:t>Key Insight:</a:t>
            </a:r>
          </a:p>
          <a:p>
            <a:pPr>
              <a:buFont typeface="Fira Code" panose="020B0809050000020004" pitchFamily="49" charset="0"/>
              <a:buChar char="֍"/>
            </a:pPr>
            <a:r>
              <a:rPr lang="en-GB" sz="2000" b="1" i="1" dirty="0"/>
              <a:t>Users who churn show approximately 80-90% lower engagement prior to cancellation, making usage decline a strong early-warning signal.</a:t>
            </a:r>
            <a:r>
              <a:rPr lang="en-GB" sz="2400" b="1" dirty="0"/>
              <a:t>	</a:t>
            </a:r>
            <a:endParaRPr lang="en-IN" sz="2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0048D0-F909-23D1-2A99-050A9C7B97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284051"/>
            <a:ext cx="5865779" cy="33305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0890CD-200A-FBFA-796E-6E1A9ACF94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2827" y="1284050"/>
            <a:ext cx="6039173" cy="334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688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5000"/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16000" b="-1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982463-F830-BC9B-C058-B74F65E17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2FEED-25B9-7AA6-9467-3F9EE11C9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84050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/>
              <a:t>Machine learning models predict churn with strong accuracy (ROC-AUC ≈ 0.92)</a:t>
            </a:r>
            <a:endParaRPr lang="en-IN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E3A6F2-4671-863A-7C97-37D1B9C4A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935" y="1468877"/>
            <a:ext cx="5535038" cy="2850204"/>
          </a:xfrm>
        </p:spPr>
        <p:txBody>
          <a:bodyPr>
            <a:normAutofit/>
          </a:bodyPr>
          <a:lstStyle/>
          <a:p>
            <a:pPr>
              <a:buFont typeface="Fira Code" panose="020B0809050000020004" pitchFamily="49" charset="0"/>
              <a:buChar char="֍"/>
            </a:pPr>
            <a:r>
              <a:rPr lang="en-GB" sz="2000" dirty="0"/>
              <a:t>Two machine learning models were trained:</a:t>
            </a:r>
          </a:p>
          <a:p>
            <a:pPr marL="0" indent="0">
              <a:buNone/>
            </a:pPr>
            <a:r>
              <a:rPr lang="en-GB" sz="2000" dirty="0"/>
              <a:t>	Logistic Regression</a:t>
            </a:r>
          </a:p>
          <a:p>
            <a:pPr marL="0" indent="0">
              <a:buNone/>
            </a:pPr>
            <a:r>
              <a:rPr lang="en-GB" sz="2000" dirty="0"/>
              <a:t>	Random Forest</a:t>
            </a:r>
            <a:endParaRPr lang="en-GB" sz="2000" b="1" dirty="0"/>
          </a:p>
          <a:p>
            <a:pPr marL="0" indent="0">
              <a:buNone/>
            </a:pPr>
            <a:r>
              <a:rPr lang="en-GB" sz="2000" b="1" dirty="0"/>
              <a:t>Model Performance:</a:t>
            </a:r>
          </a:p>
          <a:p>
            <a:pPr>
              <a:buFont typeface="Fira Code" panose="020B0809050000020004" pitchFamily="49" charset="0"/>
              <a:buChar char="֍"/>
            </a:pPr>
            <a:r>
              <a:rPr lang="en-GB" sz="2000" dirty="0"/>
              <a:t>ROC-AUC ≈ 0.92</a:t>
            </a:r>
          </a:p>
          <a:p>
            <a:pPr>
              <a:buFont typeface="Fira Code" panose="020B0809050000020004" pitchFamily="49" charset="0"/>
              <a:buChar char="֍"/>
            </a:pPr>
            <a:r>
              <a:rPr lang="en-GB" sz="2000" dirty="0"/>
              <a:t>Accuracy ≈ 89%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9550E58A-2559-6363-733F-6BF306D65BDC}"/>
              </a:ext>
            </a:extLst>
          </p:cNvPr>
          <p:cNvSpPr txBox="1">
            <a:spLocks/>
          </p:cNvSpPr>
          <p:nvPr/>
        </p:nvSpPr>
        <p:spPr>
          <a:xfrm>
            <a:off x="6170581" y="1446177"/>
            <a:ext cx="5450751" cy="2850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GB" sz="2000" b="1" dirty="0"/>
              <a:t>Top Predictive Features:</a:t>
            </a:r>
          </a:p>
          <a:p>
            <a:pPr algn="r">
              <a:buFont typeface="Fira Code" panose="020B0809050000020004" pitchFamily="49" charset="0"/>
              <a:buChar char="֍"/>
            </a:pPr>
            <a:r>
              <a:rPr lang="en-GB" sz="2000" dirty="0"/>
              <a:t>Usage decline trend.</a:t>
            </a:r>
          </a:p>
          <a:p>
            <a:pPr algn="r">
              <a:buFont typeface="Fira Code" panose="020B0809050000020004" pitchFamily="49" charset="0"/>
              <a:buChar char="֍"/>
            </a:pPr>
            <a:r>
              <a:rPr lang="en-GB" sz="2000" dirty="0"/>
              <a:t>Average session activity</a:t>
            </a:r>
          </a:p>
          <a:p>
            <a:pPr algn="r">
              <a:buFont typeface="Fira Code" panose="020B0809050000020004" pitchFamily="49" charset="0"/>
              <a:buChar char="֍"/>
            </a:pPr>
            <a:r>
              <a:rPr lang="en-GB" sz="2000" dirty="0"/>
              <a:t>Minutes used</a:t>
            </a:r>
          </a:p>
          <a:p>
            <a:pPr algn="r">
              <a:buFont typeface="Fira Code" panose="020B0809050000020004" pitchFamily="49" charset="0"/>
              <a:buChar char="֍"/>
            </a:pPr>
            <a:r>
              <a:rPr lang="en-GB" sz="2000" dirty="0"/>
              <a:t>Days since last activity</a:t>
            </a:r>
          </a:p>
          <a:p>
            <a:pPr algn="r">
              <a:buFont typeface="Fira Code" panose="020B0809050000020004" pitchFamily="49" charset="0"/>
              <a:buChar char="֍"/>
            </a:pPr>
            <a:r>
              <a:rPr lang="en-GB" sz="2000" dirty="0"/>
              <a:t>Subscription price band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8DB614DB-DA36-9DD1-5197-3BFBC39F7CE3}"/>
              </a:ext>
            </a:extLst>
          </p:cNvPr>
          <p:cNvSpPr txBox="1">
            <a:spLocks/>
          </p:cNvSpPr>
          <p:nvPr/>
        </p:nvSpPr>
        <p:spPr>
          <a:xfrm>
            <a:off x="0" y="4912468"/>
            <a:ext cx="12260115" cy="11089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Key Insight:</a:t>
            </a:r>
          </a:p>
          <a:p>
            <a:pPr>
              <a:buFont typeface="Fira Code" panose="020B0809050000020004" pitchFamily="49" charset="0"/>
              <a:buChar char="֍"/>
            </a:pPr>
            <a:r>
              <a:rPr lang="en-GB" sz="2000" b="1" i="1" dirty="0"/>
              <a:t>Behavioural engagement features provide strong predictive power for churn detection. </a:t>
            </a:r>
          </a:p>
        </p:txBody>
      </p:sp>
    </p:spTree>
    <p:extLst>
      <p:ext uri="{BB962C8B-B14F-4D97-AF65-F5344CB8AC3E}">
        <p14:creationId xmlns:p14="http://schemas.microsoft.com/office/powerpoint/2010/main" val="1752449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5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16000" b="-1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2F8DF9-00C8-AB28-273D-441281419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56B08-C543-061A-C18C-93CBACD56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84050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/>
              <a:t>Medium-priced subscription plans represent the largest revenue exposure to churn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D81A8-5B6E-3C75-3CFE-5C5EAE658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835" y="1351730"/>
            <a:ext cx="5058385" cy="523389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1800" dirty="0"/>
          </a:p>
          <a:p>
            <a:pPr>
              <a:buFont typeface="Fira Code" panose="020B0809050000020004" pitchFamily="49" charset="0"/>
              <a:buChar char="֍"/>
            </a:pPr>
            <a:r>
              <a:rPr lang="en-GB" sz="1800" dirty="0"/>
              <a:t>Churn not only reduces users but also impacts subscription revenue.</a:t>
            </a:r>
          </a:p>
          <a:p>
            <a:pPr>
              <a:buFont typeface="Fira Code" panose="020B0809050000020004" pitchFamily="49" charset="0"/>
              <a:buChar char="֍"/>
            </a:pPr>
            <a:r>
              <a:rPr lang="en-GB" sz="1800" dirty="0"/>
              <a:t>Medium priced plans represent the largest revenue exposure due to churn.</a:t>
            </a:r>
          </a:p>
          <a:p>
            <a:pPr marL="0" indent="0">
              <a:buNone/>
            </a:pPr>
            <a:endParaRPr lang="en-GB" sz="1800" b="1" dirty="0"/>
          </a:p>
          <a:p>
            <a:pPr marL="0" indent="0">
              <a:buNone/>
            </a:pPr>
            <a:endParaRPr lang="en-GB" sz="1800" b="1" dirty="0"/>
          </a:p>
          <a:p>
            <a:pPr marL="0" indent="0">
              <a:buNone/>
            </a:pPr>
            <a:endParaRPr lang="en-GB" sz="1800" b="1" dirty="0"/>
          </a:p>
          <a:p>
            <a:pPr marL="0" indent="0">
              <a:buNone/>
            </a:pPr>
            <a:r>
              <a:rPr lang="en-GB" sz="1800" b="1" dirty="0"/>
              <a:t>Key Insight</a:t>
            </a:r>
          </a:p>
          <a:p>
            <a:pPr>
              <a:buFont typeface="Fira Code" panose="020B0809050000020004" pitchFamily="49" charset="0"/>
              <a:buChar char="֍"/>
            </a:pPr>
            <a:r>
              <a:rPr lang="en-GB" sz="1800" b="1" i="1" dirty="0"/>
              <a:t>Identifying high-risk users allows the company to protect significant subscription revenue.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587D67-EDA5-3091-BBE2-67CE1A034C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353" y="1284050"/>
            <a:ext cx="5265715" cy="530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200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5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16000" b="-1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0203C3-0080-54F9-AFCC-AB49543CD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F1429-D75A-C061-9048-006B5CE20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84050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/>
              <a:t>Targeting high-risk users enables proactive churn reduction</a:t>
            </a:r>
            <a:endParaRPr lang="en-IN" b="1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37C2A85-869F-741A-BF9B-34263664EE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3835141"/>
              </p:ext>
            </p:extLst>
          </p:nvPr>
        </p:nvGraphicFramePr>
        <p:xfrm>
          <a:off x="0" y="1284051"/>
          <a:ext cx="12192000" cy="2024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860254063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941016055"/>
                    </a:ext>
                  </a:extLst>
                </a:gridCol>
              </a:tblGrid>
              <a:tr h="506234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User Segment 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alpha val="5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Strategy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alpha val="5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241220"/>
                  </a:ext>
                </a:extLst>
              </a:tr>
              <a:tr h="506234">
                <a:tc>
                  <a:txBody>
                    <a:bodyPr/>
                    <a:lstStyle/>
                    <a:p>
                      <a:r>
                        <a:rPr lang="en-GB" dirty="0"/>
                        <a:t>High Risk + High Revenue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tint val="40000"/>
                        <a:alpha val="5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Immediate retention offer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tint val="40000"/>
                        <a:alpha val="5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473214"/>
                  </a:ext>
                </a:extLst>
              </a:tr>
              <a:tr h="506234">
                <a:tc>
                  <a:txBody>
                    <a:bodyPr/>
                    <a:lstStyle/>
                    <a:p>
                      <a:r>
                        <a:rPr lang="en-GB" dirty="0"/>
                        <a:t>Medium Risk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tint val="20000"/>
                        <a:alpha val="5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Engagement campaigns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tint val="20000"/>
                        <a:alpha val="5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750733"/>
                  </a:ext>
                </a:extLst>
              </a:tr>
              <a:tr h="506234">
                <a:tc>
                  <a:txBody>
                    <a:bodyPr/>
                    <a:lstStyle/>
                    <a:p>
                      <a:r>
                        <a:rPr lang="en-GB" dirty="0"/>
                        <a:t>Low Risk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tint val="40000"/>
                        <a:alpha val="5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Monitor usage behaviour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5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356506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2C90893-F6D0-3631-72F7-456B7AC7AF1A}"/>
              </a:ext>
            </a:extLst>
          </p:cNvPr>
          <p:cNvSpPr txBox="1">
            <a:spLocks/>
          </p:cNvSpPr>
          <p:nvPr/>
        </p:nvSpPr>
        <p:spPr>
          <a:xfrm>
            <a:off x="0" y="4262296"/>
            <a:ext cx="12192000" cy="661481"/>
          </a:xfrm>
          <a:prstGeom prst="rect">
            <a:avLst/>
          </a:prstGeom>
          <a:ln>
            <a:solidFill>
              <a:schemeClr val="accent1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sz="1800" b="1" i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b="1" i="1" dirty="0"/>
              <a:t>   Using early churn prediction enables targeted interventions that reduce churn risk and improve long-term customer value.</a:t>
            </a:r>
          </a:p>
        </p:txBody>
      </p:sp>
    </p:spTree>
    <p:extLst>
      <p:ext uri="{BB962C8B-B14F-4D97-AF65-F5344CB8AC3E}">
        <p14:creationId xmlns:p14="http://schemas.microsoft.com/office/powerpoint/2010/main" val="2823789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5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16000" b="-1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A1F8D6-4F20-A557-4AFC-831E325B2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C842A-58AD-6140-5858-C458BCF00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84050"/>
          </a:xfrm>
        </p:spPr>
        <p:txBody>
          <a:bodyPr>
            <a:normAutofit/>
          </a:bodyPr>
          <a:lstStyle/>
          <a:p>
            <a:pPr algn="ctr"/>
            <a:r>
              <a:rPr lang="en-GB" b="1" dirty="0"/>
              <a:t>Business Impact Summary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CD876-5278-1223-1B46-0E8B21AC7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726162"/>
            <a:ext cx="8537510" cy="38442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>
              <a:buFont typeface="Fira Code" panose="020B0809050000020004" pitchFamily="49" charset="0"/>
              <a:buChar char="֍"/>
            </a:pPr>
            <a:r>
              <a:rPr lang="en-GB" sz="1800" dirty="0"/>
              <a:t>Churn prediction accuracy ~89%</a:t>
            </a:r>
          </a:p>
          <a:p>
            <a:pPr>
              <a:buFont typeface="Fira Code" panose="020B0809050000020004" pitchFamily="49" charset="0"/>
              <a:buChar char="֍"/>
            </a:pPr>
            <a:r>
              <a:rPr lang="en-GB" sz="1800" dirty="0"/>
              <a:t> 19% users identified as high risk</a:t>
            </a:r>
          </a:p>
          <a:p>
            <a:pPr>
              <a:buFont typeface="Fira Code" panose="020B0809050000020004" pitchFamily="49" charset="0"/>
              <a:buChar char="֍"/>
            </a:pPr>
            <a:r>
              <a:rPr lang="en-GB" sz="1800" dirty="0"/>
              <a:t> Medium-price plans carry highest revenue exposure</a:t>
            </a:r>
          </a:p>
          <a:p>
            <a:pPr>
              <a:buFont typeface="Fira Code" panose="020B0809050000020004" pitchFamily="49" charset="0"/>
              <a:buChar char="֍"/>
            </a:pPr>
            <a:r>
              <a:rPr lang="en-GB" sz="1800" dirty="0"/>
              <a:t> Early intervention strategy proposed</a:t>
            </a:r>
            <a:endParaRPr lang="en-GB" sz="1800" b="1" i="1" dirty="0"/>
          </a:p>
        </p:txBody>
      </p:sp>
    </p:spTree>
    <p:extLst>
      <p:ext uri="{BB962C8B-B14F-4D97-AF65-F5344CB8AC3E}">
        <p14:creationId xmlns:p14="http://schemas.microsoft.com/office/powerpoint/2010/main" val="712068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432</Words>
  <Application>Microsoft Office PowerPoint</Application>
  <PresentationFormat>Widescreen</PresentationFormat>
  <Paragraphs>81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Fira Code</vt:lpstr>
      <vt:lpstr>Office Theme</vt:lpstr>
      <vt:lpstr>Subscription Churn Early-Warning &amp; Retention Strategy Immensity OTT Platform</vt:lpstr>
      <vt:lpstr>Data Engineering &amp; ETL Pipeline</vt:lpstr>
      <vt:lpstr>Retention drops significantly within the first few months of subscription</vt:lpstr>
      <vt:lpstr>Declining user engagement is the strongest early warning signal of churn</vt:lpstr>
      <vt:lpstr>Machine learning models predict churn with strong accuracy (ROC-AUC ≈ 0.92)</vt:lpstr>
      <vt:lpstr>Medium-priced subscription plans represent the largest revenue exposure to churn</vt:lpstr>
      <vt:lpstr>Targeting high-risk users enables proactive churn reduction</vt:lpstr>
      <vt:lpstr>Business Impact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Sarathy Rajan</dc:creator>
  <cp:lastModifiedBy>Ajay Sarathy Rajan</cp:lastModifiedBy>
  <cp:revision>9</cp:revision>
  <dcterms:created xsi:type="dcterms:W3CDTF">2026-03-08T19:56:57Z</dcterms:created>
  <dcterms:modified xsi:type="dcterms:W3CDTF">2026-03-08T21:47:32Z</dcterms:modified>
</cp:coreProperties>
</file>